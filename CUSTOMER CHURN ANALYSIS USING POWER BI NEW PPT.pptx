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66023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2907007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2170455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4685ED-4F2C-4774-88EC-631B0815E872}"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874255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4685ED-4F2C-4774-88EC-631B0815E872}" type="datetimeFigureOut">
              <a:rPr lang="en-IN" smtClean="0"/>
              <a:t>31-01-2026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1152878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4685ED-4F2C-4774-88EC-631B0815E872}" type="datetimeFigureOut">
              <a:rPr lang="en-IN" smtClean="0"/>
              <a:t>31-01-2026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1889210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4685ED-4F2C-4774-88EC-631B0815E872}" type="datetimeFigureOut">
              <a:rPr lang="en-IN" smtClean="0"/>
              <a:t>31-01-2026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3618542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4685ED-4F2C-4774-88EC-631B0815E872}" type="datetimeFigureOut">
              <a:rPr lang="en-IN" smtClean="0"/>
              <a:t>31-01-2026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1742363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264142-A5DD-4791-A722-3FCB59F7A2F4}" type="slidenum">
              <a:rPr lang="en-IN" smtClean="0"/>
              <a:t>‹#›</a:t>
            </a:fld>
            <a:endParaRPr lang="en-IN"/>
          </a:p>
        </p:txBody>
      </p:sp>
      <p:sp>
        <p:nvSpPr>
          <p:cNvPr id="5" name="Date Placeholder 4"/>
          <p:cNvSpPr>
            <a:spLocks noGrp="1"/>
          </p:cNvSpPr>
          <p:nvPr>
            <p:ph type="dt" sz="half" idx="10"/>
          </p:nvPr>
        </p:nvSpPr>
        <p:spPr/>
        <p:txBody>
          <a:bodyPr/>
          <a:lstStyle/>
          <a:p>
            <a:fld id="{A64685ED-4F2C-4774-88EC-631B0815E872}" type="datetimeFigureOut">
              <a:rPr lang="en-IN" smtClean="0"/>
              <a:t>31-01-2026</a:t>
            </a:fld>
            <a:endParaRPr lang="en-IN"/>
          </a:p>
        </p:txBody>
      </p:sp>
    </p:spTree>
    <p:extLst>
      <p:ext uri="{BB962C8B-B14F-4D97-AF65-F5344CB8AC3E}">
        <p14:creationId xmlns:p14="http://schemas.microsoft.com/office/powerpoint/2010/main" val="4093324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3385472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2289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968034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83533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1050671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2669572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4685ED-4F2C-4774-88EC-631B0815E872}" type="datetimeFigureOut">
              <a:rPr lang="en-IN" smtClean="0"/>
              <a:t>31-01-2026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264142-A5DD-4791-A722-3FCB59F7A2F4}" type="slidenum">
              <a:rPr lang="en-IN" smtClean="0"/>
              <a:t>‹#›</a:t>
            </a:fld>
            <a:endParaRPr lang="en-IN"/>
          </a:p>
        </p:txBody>
      </p:sp>
    </p:spTree>
    <p:extLst>
      <p:ext uri="{BB962C8B-B14F-4D97-AF65-F5344CB8AC3E}">
        <p14:creationId xmlns:p14="http://schemas.microsoft.com/office/powerpoint/2010/main" val="2121612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64685ED-4F2C-4774-88EC-631B0815E872}" type="datetimeFigureOut">
              <a:rPr lang="en-IN" smtClean="0"/>
              <a:t>31-01-2026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264142-A5DD-4791-A722-3FCB59F7A2F4}" type="slidenum">
              <a:rPr lang="en-IN" smtClean="0"/>
              <a:t>‹#›</a:t>
            </a:fld>
            <a:endParaRPr lang="en-IN"/>
          </a:p>
        </p:txBody>
      </p:sp>
    </p:spTree>
    <p:extLst>
      <p:ext uri="{BB962C8B-B14F-4D97-AF65-F5344CB8AC3E}">
        <p14:creationId xmlns:p14="http://schemas.microsoft.com/office/powerpoint/2010/main" val="285753654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37DAC-0083-ECDA-71D4-157BBA2240DC}"/>
              </a:ext>
            </a:extLst>
          </p:cNvPr>
          <p:cNvSpPr txBox="1"/>
          <p:nvPr/>
        </p:nvSpPr>
        <p:spPr>
          <a:xfrm>
            <a:off x="1140542" y="1484671"/>
            <a:ext cx="8504903" cy="3416320"/>
          </a:xfrm>
          <a:prstGeom prst="rect">
            <a:avLst/>
          </a:prstGeom>
          <a:noFill/>
        </p:spPr>
        <p:txBody>
          <a:bodyPr wrap="square" rtlCol="0">
            <a:spAutoFit/>
          </a:bodyPr>
          <a:lstStyle/>
          <a:p>
            <a:r>
              <a:rPr lang="en-IN" sz="7200" dirty="0">
                <a:solidFill>
                  <a:schemeClr val="accent1">
                    <a:lumMod val="75000"/>
                  </a:schemeClr>
                </a:solidFill>
                <a:latin typeface="Times New Roman" panose="02020603050405020304" pitchFamily="18" charset="0"/>
                <a:cs typeface="Times New Roman" panose="02020603050405020304" pitchFamily="18" charset="0"/>
              </a:rPr>
              <a:t>CUSTOMER CHURN ANALYSIS USING POWER BI</a:t>
            </a:r>
          </a:p>
        </p:txBody>
      </p:sp>
    </p:spTree>
    <p:extLst>
      <p:ext uri="{BB962C8B-B14F-4D97-AF65-F5344CB8AC3E}">
        <p14:creationId xmlns:p14="http://schemas.microsoft.com/office/powerpoint/2010/main" val="1539331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C2D4DC-66A2-ABBF-5A6B-B3C153353FA1}"/>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OVERVIEW</a:t>
            </a:r>
          </a:p>
        </p:txBody>
      </p:sp>
      <p:sp>
        <p:nvSpPr>
          <p:cNvPr id="4" name="TextBox 3">
            <a:extLst>
              <a:ext uri="{FF2B5EF4-FFF2-40B4-BE49-F238E27FC236}">
                <a16:creationId xmlns:a16="http://schemas.microsoft.com/office/drawing/2014/main" id="{D0F20FBF-CDE7-1FF8-9E03-29D2294C90B1}"/>
              </a:ext>
            </a:extLst>
          </p:cNvPr>
          <p:cNvSpPr txBox="1"/>
          <p:nvPr/>
        </p:nvSpPr>
        <p:spPr>
          <a:xfrm>
            <a:off x="816077" y="1112789"/>
            <a:ext cx="8888361" cy="544764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Objective </a:t>
            </a:r>
          </a:p>
          <a:p>
            <a:r>
              <a:rPr lang="en-US" sz="1600" dirty="0">
                <a:latin typeface="Times New Roman" panose="02020603050405020304" pitchFamily="18" charset="0"/>
                <a:cs typeface="Times New Roman" panose="02020603050405020304" pitchFamily="18" charset="0"/>
              </a:rPr>
              <a:t>To analyze customer churn in a telecom company and identify key factors influencing customers to leave the company.</a:t>
            </a:r>
          </a:p>
          <a:p>
            <a:r>
              <a:rPr lang="en-US" sz="1600" b="1" dirty="0">
                <a:latin typeface="Times New Roman" panose="02020603050405020304" pitchFamily="18" charset="0"/>
                <a:cs typeface="Times New Roman" panose="02020603050405020304" pitchFamily="18" charset="0"/>
              </a:rPr>
              <a:t>Data Processing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Cleaned and prepared telecom customer data, handled data types, and created required calculated measures in Power BI.</a:t>
            </a:r>
          </a:p>
          <a:p>
            <a:r>
              <a:rPr lang="en-US" sz="1600" b="1" dirty="0">
                <a:latin typeface="Times New Roman" panose="02020603050405020304" pitchFamily="18" charset="0"/>
                <a:cs typeface="Times New Roman" panose="02020603050405020304" pitchFamily="18" charset="0"/>
              </a:rPr>
              <a:t>KPI Creation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Created key KPIs such as Total Customers, Churn Rate, Average Monthly Charges, and Average Tenure for quick insights.</a:t>
            </a:r>
          </a:p>
          <a:p>
            <a:r>
              <a:rPr lang="en-US" sz="1600" b="1" dirty="0">
                <a:latin typeface="Times New Roman" panose="02020603050405020304" pitchFamily="18" charset="0"/>
                <a:cs typeface="Times New Roman" panose="02020603050405020304" pitchFamily="18" charset="0"/>
              </a:rPr>
              <a:t>Churn Analysis by Factors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Analyzed churn based on Internet Service, Contract Type, Tenure, and Payment Method.</a:t>
            </a:r>
          </a:p>
          <a:p>
            <a:r>
              <a:rPr lang="en-US" sz="1600" b="1" dirty="0">
                <a:latin typeface="Times New Roman" panose="02020603050405020304" pitchFamily="18" charset="0"/>
                <a:cs typeface="Times New Roman" panose="02020603050405020304" pitchFamily="18" charset="0"/>
              </a:rPr>
              <a:t>Dashboard Pages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Designed four interactive pages: Overview, Demographics, Account Analysis, and Churn Risk Analysis.</a:t>
            </a:r>
          </a:p>
          <a:p>
            <a:r>
              <a:rPr lang="en-US" sz="1600" b="1" dirty="0">
                <a:latin typeface="Times New Roman" panose="02020603050405020304" pitchFamily="18" charset="0"/>
                <a:cs typeface="Times New Roman" panose="02020603050405020304" pitchFamily="18" charset="0"/>
              </a:rPr>
              <a:t>Visualizations Used</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Used</a:t>
            </a:r>
            <a:r>
              <a:rPr lang="en-US" sz="1600" dirty="0">
                <a:latin typeface="Times New Roman" panose="02020603050405020304" pitchFamily="18" charset="0"/>
                <a:cs typeface="Times New Roman" panose="02020603050405020304" pitchFamily="18" charset="0"/>
              </a:rPr>
              <a:t> bar charts, line charts, donut charts, line charts, </a:t>
            </a:r>
            <a:r>
              <a:rPr lang="en-US" sz="1600" dirty="0" err="1">
                <a:latin typeface="Times New Roman" panose="02020603050405020304" pitchFamily="18" charset="0"/>
                <a:cs typeface="Times New Roman" panose="02020603050405020304" pitchFamily="18" charset="0"/>
              </a:rPr>
              <a:t>treemap</a:t>
            </a:r>
            <a:r>
              <a:rPr lang="en-US" sz="1600" dirty="0">
                <a:latin typeface="Times New Roman" panose="02020603050405020304" pitchFamily="18" charset="0"/>
                <a:cs typeface="Times New Roman" panose="02020603050405020304" pitchFamily="18" charset="0"/>
              </a:rPr>
              <a:t>, and KPI cards for clear analysis.</a:t>
            </a:r>
          </a:p>
          <a:p>
            <a:r>
              <a:rPr lang="en-US" sz="1600" b="1" dirty="0">
                <a:latin typeface="Times New Roman" panose="02020603050405020304" pitchFamily="18" charset="0"/>
                <a:cs typeface="Times New Roman" panose="02020603050405020304" pitchFamily="18" charset="0"/>
              </a:rPr>
              <a:t>Filters &amp; Interactivity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Implemented slicers like Churn, Internet Service, Contract, Tenure, and Payment Method for dynamic filtering.</a:t>
            </a:r>
          </a:p>
          <a:p>
            <a:r>
              <a:rPr lang="en-US" sz="1600" b="1" dirty="0">
                <a:latin typeface="Times New Roman" panose="02020603050405020304" pitchFamily="18" charset="0"/>
                <a:cs typeface="Times New Roman" panose="02020603050405020304" pitchFamily="18" charset="0"/>
              </a:rPr>
              <a:t>Business Insights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Identified high-risk customer segments and churn patterns for better decision-making.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8209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239BF1-2835-2B17-D8A0-289D8F74F768}"/>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OBJECTIVE</a:t>
            </a:r>
          </a:p>
        </p:txBody>
      </p:sp>
      <p:sp>
        <p:nvSpPr>
          <p:cNvPr id="3" name="TextBox 2">
            <a:extLst>
              <a:ext uri="{FF2B5EF4-FFF2-40B4-BE49-F238E27FC236}">
                <a16:creationId xmlns:a16="http://schemas.microsoft.com/office/drawing/2014/main" id="{4C080652-E5EF-3C74-7BC8-C3DA97B4F2B5}"/>
              </a:ext>
            </a:extLst>
          </p:cNvPr>
          <p:cNvSpPr txBox="1"/>
          <p:nvPr/>
        </p:nvSpPr>
        <p:spPr>
          <a:xfrm>
            <a:off x="816077" y="1112789"/>
            <a:ext cx="8888361" cy="5139869"/>
          </a:xfrm>
          <a:prstGeom prst="rect">
            <a:avLst/>
          </a:prstGeom>
          <a:noFill/>
        </p:spPr>
        <p:txBody>
          <a:bodyPr wrap="square" rtlCol="0">
            <a:spAutoFit/>
          </a:bodyPr>
          <a:lstStyle/>
          <a:p>
            <a:endParaRPr lang="en-IN" sz="16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 To analyze customer churn behavior in a telecom company using historical data.</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To identify key factors such as Internet Service, Contract Type, Tenure, and Payment Method that influence customer churn.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3] To identify key factors such as Internet Service, Contract Type, Tenure, and Payment Method that influence customer churn.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4] To understand which customer segments are at higher risk of churn.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5] To support business decision-making using interactive Power BI dashboards.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4625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E99A9E-DCB5-DFCC-1444-763931210EC2}"/>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DATA PROCESSING</a:t>
            </a:r>
          </a:p>
        </p:txBody>
      </p:sp>
      <p:sp>
        <p:nvSpPr>
          <p:cNvPr id="3" name="TextBox 2">
            <a:extLst>
              <a:ext uri="{FF2B5EF4-FFF2-40B4-BE49-F238E27FC236}">
                <a16:creationId xmlns:a16="http://schemas.microsoft.com/office/drawing/2014/main" id="{39BA931C-892A-33E3-2794-932E0B71DDA0}"/>
              </a:ext>
            </a:extLst>
          </p:cNvPr>
          <p:cNvSpPr txBox="1"/>
          <p:nvPr/>
        </p:nvSpPr>
        <p:spPr>
          <a:xfrm>
            <a:off x="806245" y="837485"/>
            <a:ext cx="8888361" cy="6247864"/>
          </a:xfrm>
          <a:prstGeom prst="rect">
            <a:avLst/>
          </a:prstGeom>
          <a:noFill/>
        </p:spPr>
        <p:txBody>
          <a:bodyPr wrap="square" rtlCol="0">
            <a:spAutoFit/>
          </a:bodyPr>
          <a:lstStyle/>
          <a:p>
            <a:endParaRPr lang="en-IN" sz="16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 Imported the telecom customer dataset into Power BI.</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Checked and cleaned the data by removing inconsistencies and handling missing values.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3] Verified and corrected data types for numerical and categorical columns.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4] Used relevant customer attributes such as services, tenure, contracts, billing, and payment methods..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5] Created calculated columns and measures required for churn analysis.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6] Prepared the dataset for visualization and dashboard creation.</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6462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0E23E2-3C96-7775-5BCD-CBC5A4296422}"/>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CUSTOMER</a:t>
            </a:r>
            <a:r>
              <a:rPr lang="en-IN" b="1" dirty="0">
                <a:solidFill>
                  <a:schemeClr val="accent1">
                    <a:lumMod val="75000"/>
                  </a:schemeClr>
                </a:solidFill>
              </a:rPr>
              <a:t> </a:t>
            </a:r>
            <a:r>
              <a:rPr lang="en-IN" sz="3600" dirty="0">
                <a:solidFill>
                  <a:schemeClr val="accent1">
                    <a:lumMod val="75000"/>
                  </a:schemeClr>
                </a:solidFill>
                <a:latin typeface="Times New Roman" panose="02020603050405020304" pitchFamily="18" charset="0"/>
                <a:cs typeface="Times New Roman" panose="02020603050405020304" pitchFamily="18" charset="0"/>
              </a:rPr>
              <a:t>CHURN</a:t>
            </a:r>
            <a:r>
              <a:rPr lang="en-IN" b="1" dirty="0">
                <a:solidFill>
                  <a:schemeClr val="accent1">
                    <a:lumMod val="75000"/>
                  </a:schemeClr>
                </a:solidFill>
              </a:rPr>
              <a:t> </a:t>
            </a:r>
            <a:r>
              <a:rPr lang="en-IN" sz="3600" dirty="0">
                <a:solidFill>
                  <a:schemeClr val="accent1">
                    <a:lumMod val="75000"/>
                  </a:schemeClr>
                </a:solidFill>
                <a:latin typeface="Times New Roman" panose="02020603050405020304" pitchFamily="18" charset="0"/>
                <a:cs typeface="Times New Roman" panose="02020603050405020304" pitchFamily="18" charset="0"/>
              </a:rPr>
              <a:t>DASHBOARD</a:t>
            </a:r>
          </a:p>
        </p:txBody>
      </p:sp>
      <p:sp>
        <p:nvSpPr>
          <p:cNvPr id="3" name="Rectangle 2">
            <a:extLst>
              <a:ext uri="{FF2B5EF4-FFF2-40B4-BE49-F238E27FC236}">
                <a16:creationId xmlns:a16="http://schemas.microsoft.com/office/drawing/2014/main" id="{2863E310-4A26-F6DC-AF7D-CC326B7356D4}"/>
              </a:ext>
            </a:extLst>
          </p:cNvPr>
          <p:cNvSpPr/>
          <p:nvPr/>
        </p:nvSpPr>
        <p:spPr>
          <a:xfrm>
            <a:off x="973393" y="1219200"/>
            <a:ext cx="8568000" cy="4896465"/>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accent1">
                  <a:lumMod val="75000"/>
                </a:schemeClr>
              </a:solidFill>
            </a:endParaRPr>
          </a:p>
        </p:txBody>
      </p:sp>
      <p:pic>
        <p:nvPicPr>
          <p:cNvPr id="5" name="Picture 4">
            <a:extLst>
              <a:ext uri="{FF2B5EF4-FFF2-40B4-BE49-F238E27FC236}">
                <a16:creationId xmlns:a16="http://schemas.microsoft.com/office/drawing/2014/main" id="{7D4AA699-24B7-FFA5-F93D-D71A650E443A}"/>
              </a:ext>
            </a:extLst>
          </p:cNvPr>
          <p:cNvPicPr>
            <a:picLocks noChangeAspect="1"/>
          </p:cNvPicPr>
          <p:nvPr/>
        </p:nvPicPr>
        <p:blipFill>
          <a:blip r:embed="rId2"/>
          <a:stretch>
            <a:fillRect/>
          </a:stretch>
        </p:blipFill>
        <p:spPr>
          <a:xfrm>
            <a:off x="973394" y="1219201"/>
            <a:ext cx="8567999" cy="4896464"/>
          </a:xfrm>
          <a:prstGeom prst="rect">
            <a:avLst/>
          </a:prstGeom>
        </p:spPr>
      </p:pic>
    </p:spTree>
    <p:extLst>
      <p:ext uri="{BB962C8B-B14F-4D97-AF65-F5344CB8AC3E}">
        <p14:creationId xmlns:p14="http://schemas.microsoft.com/office/powerpoint/2010/main" val="1590063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316F99-A682-DFD3-A3F4-1012CC355621}"/>
              </a:ext>
            </a:extLst>
          </p:cNvPr>
          <p:cNvSpPr txBox="1"/>
          <p:nvPr/>
        </p:nvSpPr>
        <p:spPr>
          <a:xfrm>
            <a:off x="749709" y="729733"/>
            <a:ext cx="8472949" cy="5201424"/>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Overview – Customer Churn Dashboard</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page provides a high-level overview of churned customers in the telecom company. It shows the total number of customers who have left, along with the support impact in terms of tech and admin tickets, and the revenue loss through yearly charges.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gender-wise churn distribution highlights that churn is almost equally spread between male and female customers.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tenure-based churn chart clearly indicates that most customers leave within the first year, and churn reduces as customer tenure increases.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Overall, this page helps quickly identify who is leaving the company, when they are leaving, and the immediate business impact of churn, making it easier to focus on early customer retention.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407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702DB3-B446-9C6D-D740-7EA57BA99937}"/>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DEMOGRAPHICS</a:t>
            </a:r>
            <a:r>
              <a:rPr lang="en-IN" b="1" dirty="0"/>
              <a:t> </a:t>
            </a:r>
            <a:r>
              <a:rPr lang="en-IN" sz="3600" dirty="0">
                <a:solidFill>
                  <a:schemeClr val="accent1">
                    <a:lumMod val="75000"/>
                  </a:schemeClr>
                </a:solidFill>
                <a:latin typeface="Times New Roman" panose="02020603050405020304" pitchFamily="18" charset="0"/>
                <a:cs typeface="Times New Roman" panose="02020603050405020304" pitchFamily="18" charset="0"/>
              </a:rPr>
              <a:t>ANALYSIS</a:t>
            </a:r>
          </a:p>
        </p:txBody>
      </p:sp>
      <p:sp>
        <p:nvSpPr>
          <p:cNvPr id="3" name="Rectangle 2">
            <a:extLst>
              <a:ext uri="{FF2B5EF4-FFF2-40B4-BE49-F238E27FC236}">
                <a16:creationId xmlns:a16="http://schemas.microsoft.com/office/drawing/2014/main" id="{F2074845-56D5-64F4-FF22-9C0EDEA9A672}"/>
              </a:ext>
            </a:extLst>
          </p:cNvPr>
          <p:cNvSpPr/>
          <p:nvPr/>
        </p:nvSpPr>
        <p:spPr>
          <a:xfrm>
            <a:off x="973393" y="1219200"/>
            <a:ext cx="8568000" cy="4896465"/>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accent1">
                  <a:lumMod val="75000"/>
                </a:schemeClr>
              </a:solidFill>
            </a:endParaRPr>
          </a:p>
        </p:txBody>
      </p:sp>
      <p:pic>
        <p:nvPicPr>
          <p:cNvPr id="5" name="Picture 4">
            <a:extLst>
              <a:ext uri="{FF2B5EF4-FFF2-40B4-BE49-F238E27FC236}">
                <a16:creationId xmlns:a16="http://schemas.microsoft.com/office/drawing/2014/main" id="{59DA81F5-9C41-E729-9902-0A7D8CD4780F}"/>
              </a:ext>
            </a:extLst>
          </p:cNvPr>
          <p:cNvPicPr>
            <a:picLocks noChangeAspect="1"/>
          </p:cNvPicPr>
          <p:nvPr/>
        </p:nvPicPr>
        <p:blipFill>
          <a:blip r:embed="rId2"/>
          <a:stretch>
            <a:fillRect/>
          </a:stretch>
        </p:blipFill>
        <p:spPr>
          <a:xfrm>
            <a:off x="973393" y="1219200"/>
            <a:ext cx="8568000" cy="4896464"/>
          </a:xfrm>
          <a:prstGeom prst="rect">
            <a:avLst/>
          </a:prstGeom>
        </p:spPr>
      </p:pic>
    </p:spTree>
    <p:extLst>
      <p:ext uri="{BB962C8B-B14F-4D97-AF65-F5344CB8AC3E}">
        <p14:creationId xmlns:p14="http://schemas.microsoft.com/office/powerpoint/2010/main" val="1989833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138F20-A66D-913E-972D-16F0CC2D09EA}"/>
              </a:ext>
            </a:extLst>
          </p:cNvPr>
          <p:cNvSpPr txBox="1"/>
          <p:nvPr/>
        </p:nvSpPr>
        <p:spPr>
          <a:xfrm>
            <a:off x="749709" y="729733"/>
            <a:ext cx="8472949" cy="5693866"/>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Demographics Analysis – Customer Churn</a:t>
            </a:r>
          </a:p>
          <a:p>
            <a:endParaRPr lang="en-IN" sz="32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page focuses on the </a:t>
            </a:r>
            <a:r>
              <a:rPr lang="en-US" sz="2000" b="1" dirty="0">
                <a:latin typeface="Times New Roman" panose="02020603050405020304" pitchFamily="18" charset="0"/>
                <a:cs typeface="Times New Roman" panose="02020603050405020304" pitchFamily="18" charset="0"/>
              </a:rPr>
              <a:t>demographic and service usage patterns of churned </a:t>
            </a:r>
            <a:r>
              <a:rPr lang="en-US" sz="2000" b="1" dirty="0" err="1">
                <a:latin typeface="Times New Roman" panose="02020603050405020304" pitchFamily="18" charset="0"/>
                <a:cs typeface="Times New Roman" panose="02020603050405020304" pitchFamily="18" charset="0"/>
              </a:rPr>
              <a:t>customers</a:t>
            </a:r>
            <a:r>
              <a:rPr lang="en-US" sz="2000" dirty="0" err="1">
                <a:latin typeface="Times New Roman" panose="02020603050405020304" pitchFamily="18" charset="0"/>
                <a:cs typeface="Times New Roman" panose="02020603050405020304" pitchFamily="18" charset="0"/>
              </a:rPr>
              <a:t>.It</a:t>
            </a:r>
            <a:r>
              <a:rPr lang="en-US" sz="2000" dirty="0">
                <a:latin typeface="Times New Roman" panose="02020603050405020304" pitchFamily="18" charset="0"/>
                <a:cs typeface="Times New Roman" panose="02020603050405020304" pitchFamily="18" charset="0"/>
              </a:rPr>
              <a:t> highlights which </a:t>
            </a:r>
            <a:r>
              <a:rPr lang="en-US" sz="2000" b="1" dirty="0">
                <a:latin typeface="Times New Roman" panose="02020603050405020304" pitchFamily="18" charset="0"/>
                <a:cs typeface="Times New Roman" panose="02020603050405020304" pitchFamily="18" charset="0"/>
              </a:rPr>
              <a:t>services were most commonly used by customers who left</a:t>
            </a:r>
            <a:r>
              <a:rPr lang="en-US" sz="2000" dirty="0">
                <a:latin typeface="Times New Roman" panose="02020603050405020304" pitchFamily="18" charset="0"/>
                <a:cs typeface="Times New Roman" panose="02020603050405020304" pitchFamily="18" charset="0"/>
              </a:rPr>
              <a:t>, such as streaming services, phone service, and online add-ons.</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internet service distribution</a:t>
            </a:r>
            <a:r>
              <a:rPr lang="en-US" sz="2000" dirty="0">
                <a:latin typeface="Times New Roman" panose="02020603050405020304" pitchFamily="18" charset="0"/>
                <a:cs typeface="Times New Roman" panose="02020603050405020304" pitchFamily="18" charset="0"/>
              </a:rPr>
              <a:t> shows that a large portion of churned customers were using </a:t>
            </a:r>
            <a:r>
              <a:rPr lang="en-US" sz="2000" b="1" dirty="0">
                <a:latin typeface="Times New Roman" panose="02020603050405020304" pitchFamily="18" charset="0"/>
                <a:cs typeface="Times New Roman" panose="02020603050405020304" pitchFamily="18" charset="0"/>
              </a:rPr>
              <a:t>fiber optic services</a:t>
            </a:r>
            <a:r>
              <a:rPr lang="en-US" sz="2000" dirty="0">
                <a:latin typeface="Times New Roman" panose="02020603050405020304" pitchFamily="18" charset="0"/>
                <a:cs typeface="Times New Roman" panose="02020603050405020304" pitchFamily="18" charset="0"/>
              </a:rPr>
              <a:t>, which also contribute the highest share of monthly charges.</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multiple lines and phone service insights</a:t>
            </a:r>
            <a:r>
              <a:rPr lang="en-US" sz="2000" dirty="0">
                <a:latin typeface="Times New Roman" panose="02020603050405020304" pitchFamily="18" charset="0"/>
                <a:cs typeface="Times New Roman" panose="02020603050405020304" pitchFamily="18" charset="0"/>
              </a:rPr>
              <a:t> indicate that even high-usage customers are churning, increasing potential revenue loss.</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Overall, this page helps identify </a:t>
            </a:r>
            <a:r>
              <a:rPr lang="en-US" sz="2000" b="1" dirty="0">
                <a:latin typeface="Times New Roman" panose="02020603050405020304" pitchFamily="18" charset="0"/>
                <a:cs typeface="Times New Roman" panose="02020603050405020304" pitchFamily="18" charset="0"/>
              </a:rPr>
              <a:t>which customer segments and service combinations are more prone to churn</a:t>
            </a:r>
            <a:r>
              <a:rPr lang="en-US" sz="2000" dirty="0">
                <a:latin typeface="Times New Roman" panose="02020603050405020304" pitchFamily="18" charset="0"/>
                <a:cs typeface="Times New Roman" panose="02020603050405020304" pitchFamily="18" charset="0"/>
              </a:rPr>
              <a:t>, enabling better targeting of retention strategies.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749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C1D859-4B64-82F2-2C8E-29043EBAAA63}"/>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CUSTOMER</a:t>
            </a:r>
            <a:r>
              <a:rPr lang="en-IN" b="1" dirty="0"/>
              <a:t> </a:t>
            </a:r>
            <a:r>
              <a:rPr lang="en-IN" sz="3600" dirty="0">
                <a:solidFill>
                  <a:schemeClr val="accent1">
                    <a:lumMod val="75000"/>
                  </a:schemeClr>
                </a:solidFill>
                <a:latin typeface="Times New Roman" panose="02020603050405020304" pitchFamily="18" charset="0"/>
                <a:cs typeface="Times New Roman" panose="02020603050405020304" pitchFamily="18" charset="0"/>
              </a:rPr>
              <a:t>ACCOUNT</a:t>
            </a:r>
            <a:r>
              <a:rPr lang="en-IN" b="1" dirty="0"/>
              <a:t> </a:t>
            </a:r>
            <a:r>
              <a:rPr lang="en-IN" sz="3600" dirty="0">
                <a:solidFill>
                  <a:schemeClr val="accent1">
                    <a:lumMod val="75000"/>
                  </a:schemeClr>
                </a:solidFill>
                <a:latin typeface="Times New Roman" panose="02020603050405020304" pitchFamily="18" charset="0"/>
                <a:cs typeface="Times New Roman" panose="02020603050405020304" pitchFamily="18" charset="0"/>
              </a:rPr>
              <a:t>ANALYSIS</a:t>
            </a:r>
          </a:p>
        </p:txBody>
      </p:sp>
      <p:sp>
        <p:nvSpPr>
          <p:cNvPr id="5" name="Rectangle 4">
            <a:extLst>
              <a:ext uri="{FF2B5EF4-FFF2-40B4-BE49-F238E27FC236}">
                <a16:creationId xmlns:a16="http://schemas.microsoft.com/office/drawing/2014/main" id="{076042B0-A839-0835-558C-42948B3335FD}"/>
              </a:ext>
            </a:extLst>
          </p:cNvPr>
          <p:cNvSpPr/>
          <p:nvPr/>
        </p:nvSpPr>
        <p:spPr>
          <a:xfrm>
            <a:off x="973393" y="1219200"/>
            <a:ext cx="8568000" cy="4896465"/>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accent1">
                  <a:lumMod val="75000"/>
                </a:schemeClr>
              </a:solidFill>
            </a:endParaRPr>
          </a:p>
        </p:txBody>
      </p:sp>
      <p:pic>
        <p:nvPicPr>
          <p:cNvPr id="7" name="Picture 6">
            <a:extLst>
              <a:ext uri="{FF2B5EF4-FFF2-40B4-BE49-F238E27FC236}">
                <a16:creationId xmlns:a16="http://schemas.microsoft.com/office/drawing/2014/main" id="{DA577CD7-AC35-4D35-568C-21D9A2BC5F6F}"/>
              </a:ext>
            </a:extLst>
          </p:cNvPr>
          <p:cNvPicPr>
            <a:picLocks noChangeAspect="1"/>
          </p:cNvPicPr>
          <p:nvPr/>
        </p:nvPicPr>
        <p:blipFill>
          <a:blip r:embed="rId2"/>
          <a:stretch>
            <a:fillRect/>
          </a:stretch>
        </p:blipFill>
        <p:spPr>
          <a:xfrm>
            <a:off x="973393" y="1219200"/>
            <a:ext cx="8568000" cy="4896464"/>
          </a:xfrm>
          <a:prstGeom prst="rect">
            <a:avLst/>
          </a:prstGeom>
        </p:spPr>
      </p:pic>
    </p:spTree>
    <p:extLst>
      <p:ext uri="{BB962C8B-B14F-4D97-AF65-F5344CB8AC3E}">
        <p14:creationId xmlns:p14="http://schemas.microsoft.com/office/powerpoint/2010/main" val="4188900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19F92E-CBC1-090F-6B99-E587D29519B1}"/>
              </a:ext>
            </a:extLst>
          </p:cNvPr>
          <p:cNvSpPr txBox="1"/>
          <p:nvPr/>
        </p:nvSpPr>
        <p:spPr>
          <a:xfrm>
            <a:off x="749709" y="729733"/>
            <a:ext cx="8472949" cy="5509200"/>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Account Analysis – Customer Churn</a:t>
            </a:r>
          </a:p>
          <a:p>
            <a:endParaRPr lang="en-IN"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page analyzes </a:t>
            </a:r>
            <a:r>
              <a:rPr lang="en-US" sz="2000" b="1" dirty="0">
                <a:latin typeface="Times New Roman" panose="02020603050405020304" pitchFamily="18" charset="0"/>
                <a:cs typeface="Times New Roman" panose="02020603050405020304" pitchFamily="18" charset="0"/>
              </a:rPr>
              <a:t>how churned customers managed their accounts and billing </a:t>
            </a:r>
            <a:r>
              <a:rPr lang="en-US" sz="2000" b="1" dirty="0" err="1">
                <a:latin typeface="Times New Roman" panose="02020603050405020304" pitchFamily="18" charset="0"/>
                <a:cs typeface="Times New Roman" panose="02020603050405020304" pitchFamily="18" charset="0"/>
              </a:rPr>
              <a:t>preferences</a:t>
            </a:r>
            <a:r>
              <a:rPr lang="en-US" sz="2000" dirty="0" err="1">
                <a:latin typeface="Times New Roman" panose="02020603050405020304" pitchFamily="18" charset="0"/>
                <a:cs typeface="Times New Roman" panose="02020603050405020304" pitchFamily="18" charset="0"/>
              </a:rPr>
              <a:t>.It</a:t>
            </a:r>
            <a:r>
              <a:rPr lang="en-US" sz="2000" dirty="0">
                <a:latin typeface="Times New Roman" panose="02020603050405020304" pitchFamily="18" charset="0"/>
                <a:cs typeface="Times New Roman" panose="02020603050405020304" pitchFamily="18" charset="0"/>
              </a:rPr>
              <a:t> highlights the </a:t>
            </a:r>
            <a:r>
              <a:rPr lang="en-US" sz="2000" b="1" dirty="0">
                <a:latin typeface="Times New Roman" panose="02020603050405020304" pitchFamily="18" charset="0"/>
                <a:cs typeface="Times New Roman" panose="02020603050405020304" pitchFamily="18" charset="0"/>
              </a:rPr>
              <a:t>preferred payment methods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paperless billing adoption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contract types</a:t>
            </a:r>
            <a:r>
              <a:rPr lang="en-US" sz="2000" dirty="0">
                <a:latin typeface="Times New Roman" panose="02020603050405020304" pitchFamily="18" charset="0"/>
                <a:cs typeface="Times New Roman" panose="02020603050405020304" pitchFamily="18" charset="0"/>
              </a:rPr>
              <a:t> among customers who left the company.</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visuals show that </a:t>
            </a:r>
            <a:r>
              <a:rPr lang="en-US" sz="2000" b="1" dirty="0">
                <a:latin typeface="Times New Roman" panose="02020603050405020304" pitchFamily="18" charset="0"/>
                <a:cs typeface="Times New Roman" panose="02020603050405020304" pitchFamily="18" charset="0"/>
              </a:rPr>
              <a:t>month-to-month contracts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manual payment methods</a:t>
            </a:r>
            <a:r>
              <a:rPr lang="en-US" sz="2000" dirty="0">
                <a:latin typeface="Times New Roman" panose="02020603050405020304" pitchFamily="18" charset="0"/>
                <a:cs typeface="Times New Roman" panose="02020603050405020304" pitchFamily="18" charset="0"/>
              </a:rPr>
              <a:t> (such as electronic and mailed checks) have a higher churn association, while long-term contracts show lower churn.</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internet service usage chart</a:t>
            </a:r>
            <a:r>
              <a:rPr lang="en-US" sz="2000" dirty="0">
                <a:latin typeface="Times New Roman" panose="02020603050405020304" pitchFamily="18" charset="0"/>
                <a:cs typeface="Times New Roman" panose="02020603050405020304" pitchFamily="18" charset="0"/>
              </a:rPr>
              <a:t> further supports that high-value customers, especially those using </a:t>
            </a:r>
            <a:r>
              <a:rPr lang="en-US" sz="2000" b="1" dirty="0">
                <a:latin typeface="Times New Roman" panose="02020603050405020304" pitchFamily="18" charset="0"/>
                <a:cs typeface="Times New Roman" panose="02020603050405020304" pitchFamily="18" charset="0"/>
              </a:rPr>
              <a:t>fiber optic services</a:t>
            </a:r>
            <a:r>
              <a:rPr lang="en-US" sz="2000" dirty="0">
                <a:latin typeface="Times New Roman" panose="02020603050405020304" pitchFamily="18" charset="0"/>
                <a:cs typeface="Times New Roman" panose="02020603050405020304" pitchFamily="18" charset="0"/>
              </a:rPr>
              <a:t>, are contributing significantly to revenue loss when they churn.</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Overall, this page helps understand </a:t>
            </a:r>
            <a:r>
              <a:rPr lang="en-US" sz="2000" b="1" dirty="0">
                <a:latin typeface="Times New Roman" panose="02020603050405020304" pitchFamily="18" charset="0"/>
                <a:cs typeface="Times New Roman" panose="02020603050405020304" pitchFamily="18" charset="0"/>
              </a:rPr>
              <a:t>which account behaviors and billing preferences increase churn risk</a:t>
            </a:r>
            <a:r>
              <a:rPr lang="en-US" sz="2000" dirty="0">
                <a:latin typeface="Times New Roman" panose="02020603050405020304" pitchFamily="18" charset="0"/>
                <a:cs typeface="Times New Roman" panose="02020603050405020304" pitchFamily="18" charset="0"/>
              </a:rPr>
              <a:t>, allowing the company to improve retention through better plans and billing strategies.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7090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DA8044-1BAD-AF4E-4244-DE65FF313D7B}"/>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CHRUN</a:t>
            </a:r>
            <a:r>
              <a:rPr lang="en-IN" b="1" dirty="0"/>
              <a:t> </a:t>
            </a:r>
            <a:r>
              <a:rPr lang="en-IN" sz="3600" dirty="0">
                <a:solidFill>
                  <a:schemeClr val="accent1">
                    <a:lumMod val="75000"/>
                  </a:schemeClr>
                </a:solidFill>
                <a:latin typeface="Times New Roman" panose="02020603050405020304" pitchFamily="18" charset="0"/>
                <a:cs typeface="Times New Roman" panose="02020603050405020304" pitchFamily="18" charset="0"/>
              </a:rPr>
              <a:t>RISK</a:t>
            </a:r>
            <a:r>
              <a:rPr lang="en-IN" b="1" dirty="0"/>
              <a:t> </a:t>
            </a:r>
            <a:r>
              <a:rPr lang="en-IN" sz="3600" dirty="0">
                <a:solidFill>
                  <a:schemeClr val="accent1">
                    <a:lumMod val="75000"/>
                  </a:schemeClr>
                </a:solidFill>
                <a:latin typeface="Times New Roman" panose="02020603050405020304" pitchFamily="18" charset="0"/>
                <a:cs typeface="Times New Roman" panose="02020603050405020304" pitchFamily="18" charset="0"/>
              </a:rPr>
              <a:t>ANALYSIS</a:t>
            </a:r>
          </a:p>
        </p:txBody>
      </p:sp>
      <p:sp>
        <p:nvSpPr>
          <p:cNvPr id="5" name="Rectangle 4">
            <a:extLst>
              <a:ext uri="{FF2B5EF4-FFF2-40B4-BE49-F238E27FC236}">
                <a16:creationId xmlns:a16="http://schemas.microsoft.com/office/drawing/2014/main" id="{74A3E4BA-47EB-78A9-DEA9-8AD93E840ED1}"/>
              </a:ext>
            </a:extLst>
          </p:cNvPr>
          <p:cNvSpPr/>
          <p:nvPr/>
        </p:nvSpPr>
        <p:spPr>
          <a:xfrm>
            <a:off x="973393" y="1219200"/>
            <a:ext cx="8568000" cy="4896465"/>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accent1">
                  <a:lumMod val="75000"/>
                </a:schemeClr>
              </a:solidFill>
            </a:endParaRPr>
          </a:p>
        </p:txBody>
      </p:sp>
      <p:pic>
        <p:nvPicPr>
          <p:cNvPr id="7" name="Picture 6">
            <a:extLst>
              <a:ext uri="{FF2B5EF4-FFF2-40B4-BE49-F238E27FC236}">
                <a16:creationId xmlns:a16="http://schemas.microsoft.com/office/drawing/2014/main" id="{51F980B3-A706-5A62-C0E0-71CBAC3CEDF9}"/>
              </a:ext>
            </a:extLst>
          </p:cNvPr>
          <p:cNvPicPr>
            <a:picLocks noChangeAspect="1"/>
          </p:cNvPicPr>
          <p:nvPr/>
        </p:nvPicPr>
        <p:blipFill>
          <a:blip r:embed="rId2"/>
          <a:stretch>
            <a:fillRect/>
          </a:stretch>
        </p:blipFill>
        <p:spPr>
          <a:xfrm>
            <a:off x="973393" y="1219201"/>
            <a:ext cx="8568000" cy="4896464"/>
          </a:xfrm>
          <a:prstGeom prst="rect">
            <a:avLst/>
          </a:prstGeom>
        </p:spPr>
      </p:pic>
    </p:spTree>
    <p:extLst>
      <p:ext uri="{BB962C8B-B14F-4D97-AF65-F5344CB8AC3E}">
        <p14:creationId xmlns:p14="http://schemas.microsoft.com/office/powerpoint/2010/main" val="90262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E89D7A-480D-8335-C55A-4B4122659FCD}"/>
              </a:ext>
            </a:extLst>
          </p:cNvPr>
          <p:cNvSpPr txBox="1"/>
          <p:nvPr/>
        </p:nvSpPr>
        <p:spPr>
          <a:xfrm>
            <a:off x="749709" y="90636"/>
            <a:ext cx="8472949" cy="6463308"/>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Churn Risk Analysis – Page Explanation</a:t>
            </a:r>
          </a:p>
          <a:p>
            <a:endParaRPr lang="en-US" sz="36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page focuses on </a:t>
            </a:r>
            <a:r>
              <a:rPr lang="en-US" b="1" dirty="0">
                <a:latin typeface="Times New Roman" panose="02020603050405020304" pitchFamily="18" charset="0"/>
                <a:cs typeface="Times New Roman" panose="02020603050405020304" pitchFamily="18" charset="0"/>
              </a:rPr>
              <a:t>identifying churn risk across all customers</a:t>
            </a:r>
            <a:r>
              <a:rPr lang="en-US" dirty="0">
                <a:latin typeface="Times New Roman" panose="02020603050405020304" pitchFamily="18" charset="0"/>
                <a:cs typeface="Times New Roman" panose="02020603050405020304" pitchFamily="18" charset="0"/>
              </a:rPr>
              <a:t> using the complete dataset, not only churned </a:t>
            </a:r>
            <a:r>
              <a:rPr lang="en-US" dirty="0" err="1">
                <a:latin typeface="Times New Roman" panose="02020603050405020304" pitchFamily="18" charset="0"/>
                <a:cs typeface="Times New Roman" panose="02020603050405020304" pitchFamily="18" charset="0"/>
              </a:rPr>
              <a:t>customers.The</a:t>
            </a:r>
            <a:r>
              <a:rPr lang="en-US" dirty="0">
                <a:latin typeface="Times New Roman" panose="02020603050405020304" pitchFamily="18" charset="0"/>
                <a:cs typeface="Times New Roman" panose="02020603050405020304" pitchFamily="18" charset="0"/>
              </a:rPr>
              <a:t> KPIs at the top show the </a:t>
            </a:r>
            <a:r>
              <a:rPr lang="en-US" b="1" dirty="0">
                <a:latin typeface="Times New Roman" panose="02020603050405020304" pitchFamily="18" charset="0"/>
                <a:cs typeface="Times New Roman" panose="02020603050405020304" pitchFamily="18" charset="0"/>
              </a:rPr>
              <a:t>overall customer base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average monthly charges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average tenure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overall churn rate</a:t>
            </a:r>
            <a:r>
              <a:rPr lang="en-US" dirty="0">
                <a:latin typeface="Times New Roman" panose="02020603050405020304" pitchFamily="18" charset="0"/>
                <a:cs typeface="Times New Roman" panose="02020603050405020304" pitchFamily="18" charset="0"/>
              </a:rPr>
              <a:t>, which together give a high-level view of churn exposure in the company.</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“Churn Rate by Internet Service”</a:t>
            </a:r>
            <a:r>
              <a:rPr lang="en-US" dirty="0">
                <a:latin typeface="Times New Roman" panose="02020603050405020304" pitchFamily="18" charset="0"/>
                <a:cs typeface="Times New Roman" panose="02020603050405020304" pitchFamily="18" charset="0"/>
              </a:rPr>
              <a:t> bar chart highlights that customers using </a:t>
            </a:r>
            <a:r>
              <a:rPr lang="en-US" b="1" dirty="0">
                <a:latin typeface="Times New Roman" panose="02020603050405020304" pitchFamily="18" charset="0"/>
                <a:cs typeface="Times New Roman" panose="02020603050405020304" pitchFamily="18" charset="0"/>
              </a:rPr>
              <a:t>fiber optic services have the highest churn rate</a:t>
            </a:r>
            <a:r>
              <a:rPr lang="en-US" dirty="0">
                <a:latin typeface="Times New Roman" panose="02020603050405020304" pitchFamily="18" charset="0"/>
                <a:cs typeface="Times New Roman" panose="02020603050405020304" pitchFamily="18" charset="0"/>
              </a:rPr>
              <a:t>, indicating higher risk in premium services.</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“Churn Rate by Internet Service”</a:t>
            </a:r>
            <a:r>
              <a:rPr lang="en-US" dirty="0">
                <a:latin typeface="Times New Roman" panose="02020603050405020304" pitchFamily="18" charset="0"/>
                <a:cs typeface="Times New Roman" panose="02020603050405020304" pitchFamily="18" charset="0"/>
              </a:rPr>
              <a:t> bar chart highlights that customers using </a:t>
            </a:r>
            <a:r>
              <a:rPr lang="en-US" b="1" dirty="0">
                <a:latin typeface="Times New Roman" panose="02020603050405020304" pitchFamily="18" charset="0"/>
                <a:cs typeface="Times New Roman" panose="02020603050405020304" pitchFamily="18" charset="0"/>
              </a:rPr>
              <a:t>fiber optic services have the highest churn rate</a:t>
            </a:r>
            <a:r>
              <a:rPr lang="en-US" dirty="0">
                <a:latin typeface="Times New Roman" panose="02020603050405020304" pitchFamily="18" charset="0"/>
                <a:cs typeface="Times New Roman" panose="02020603050405020304" pitchFamily="18" charset="0"/>
              </a:rPr>
              <a:t>, indicating higher risk in premium services.</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tenure line chart</a:t>
            </a:r>
            <a:r>
              <a:rPr lang="en-US" dirty="0">
                <a:latin typeface="Times New Roman" panose="02020603050405020304" pitchFamily="18" charset="0"/>
                <a:cs typeface="Times New Roman" panose="02020603050405020304" pitchFamily="18" charset="0"/>
              </a:rPr>
              <a:t> shows that churn is </a:t>
            </a:r>
            <a:r>
              <a:rPr lang="en-US" b="1" dirty="0">
                <a:latin typeface="Times New Roman" panose="02020603050405020304" pitchFamily="18" charset="0"/>
                <a:cs typeface="Times New Roman" panose="02020603050405020304" pitchFamily="18" charset="0"/>
              </a:rPr>
              <a:t>highest in the early years</a:t>
            </a:r>
            <a:r>
              <a:rPr lang="en-US" dirty="0">
                <a:latin typeface="Times New Roman" panose="02020603050405020304" pitchFamily="18" charset="0"/>
                <a:cs typeface="Times New Roman" panose="02020603050405020304" pitchFamily="18" charset="0"/>
              </a:rPr>
              <a:t> and decreases as customer tenure increases, proving that </a:t>
            </a:r>
            <a:r>
              <a:rPr lang="en-US" b="1" dirty="0">
                <a:latin typeface="Times New Roman" panose="02020603050405020304" pitchFamily="18" charset="0"/>
                <a:cs typeface="Times New Roman" panose="02020603050405020304" pitchFamily="18" charset="0"/>
              </a:rPr>
              <a:t>new customers are more </a:t>
            </a:r>
            <a:r>
              <a:rPr lang="en-US" b="1" dirty="0" err="1">
                <a:latin typeface="Times New Roman" panose="02020603050405020304" pitchFamily="18" charset="0"/>
                <a:cs typeface="Times New Roman" panose="02020603050405020304" pitchFamily="18" charset="0"/>
              </a:rPr>
              <a:t>vulnerable</a:t>
            </a:r>
            <a:r>
              <a:rPr lang="en-US" dirty="0" err="1">
                <a:latin typeface="Times New Roman" panose="02020603050405020304" pitchFamily="18" charset="0"/>
                <a:cs typeface="Times New Roman" panose="02020603050405020304" pitchFamily="18" charset="0"/>
              </a:rPr>
              <a:t>.Finally</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payment method </a:t>
            </a:r>
            <a:r>
              <a:rPr lang="en-US" b="1" dirty="0" err="1">
                <a:latin typeface="Times New Roman" panose="02020603050405020304" pitchFamily="18" charset="0"/>
                <a:cs typeface="Times New Roman" panose="02020603050405020304" pitchFamily="18" charset="0"/>
              </a:rPr>
              <a:t>treemap</a:t>
            </a:r>
            <a:r>
              <a:rPr lang="en-US" dirty="0">
                <a:latin typeface="Times New Roman" panose="02020603050405020304" pitchFamily="18" charset="0"/>
                <a:cs typeface="Times New Roman" panose="02020603050405020304" pitchFamily="18" charset="0"/>
              </a:rPr>
              <a:t> reveals higher churn among customers using </a:t>
            </a:r>
            <a:r>
              <a:rPr lang="en-US" b="1" dirty="0">
                <a:latin typeface="Times New Roman" panose="02020603050405020304" pitchFamily="18" charset="0"/>
                <a:cs typeface="Times New Roman" panose="02020603050405020304" pitchFamily="18" charset="0"/>
              </a:rPr>
              <a:t>manual payment methods</a:t>
            </a:r>
            <a:r>
              <a:rPr lang="en-US" dirty="0">
                <a:latin typeface="Times New Roman" panose="02020603050405020304" pitchFamily="18" charset="0"/>
                <a:cs typeface="Times New Roman" panose="02020603050405020304" pitchFamily="18" charset="0"/>
              </a:rPr>
              <a:t>, compared to automatic payment options.</a:t>
            </a:r>
          </a:p>
          <a:p>
            <a:endParaRPr lang="en-US" b="1" dirty="0">
              <a:latin typeface="Times New Roman" panose="02020603050405020304" pitchFamily="18" charset="0"/>
              <a:cs typeface="Times New Roman" panose="02020603050405020304" pitchFamily="18" charset="0"/>
            </a:endParaRPr>
          </a:p>
          <a:p>
            <a:r>
              <a:rPr lang="en-US" dirty="0"/>
              <a:t>Overall, this page helps the company </a:t>
            </a:r>
            <a:r>
              <a:rPr lang="en-US" b="1" dirty="0"/>
              <a:t>predict where churn is most likely to occur in the future</a:t>
            </a:r>
            <a:r>
              <a:rPr lang="en-US" dirty="0"/>
              <a:t> and highlights </a:t>
            </a:r>
            <a:r>
              <a:rPr lang="en-US" b="1" dirty="0"/>
              <a:t>high-risk segments</a:t>
            </a:r>
            <a:r>
              <a:rPr lang="en-US" dirty="0"/>
              <a:t> that need proactive retention strategies.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358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5E7BBC-E792-E109-DAC4-917846EB3A49}"/>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74726F36-7255-AF59-5F30-F0CD02E302F5}"/>
              </a:ext>
            </a:extLst>
          </p:cNvPr>
          <p:cNvSpPr txBox="1"/>
          <p:nvPr/>
        </p:nvSpPr>
        <p:spPr>
          <a:xfrm>
            <a:off x="1300315" y="1166842"/>
            <a:ext cx="8472949" cy="452431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This analysis clearly shows that customer churn is strongly influenced by </a:t>
            </a:r>
            <a:r>
              <a:rPr lang="en-US" sz="2400" b="1" dirty="0">
                <a:latin typeface="Times New Roman" panose="02020603050405020304" pitchFamily="18" charset="0"/>
                <a:cs typeface="Times New Roman" panose="02020603050405020304" pitchFamily="18" charset="0"/>
              </a:rPr>
              <a:t>service type, contract duration, tenure, and payment method</a:t>
            </a:r>
            <a:r>
              <a:rPr lang="en-US" sz="2400" dirty="0">
                <a:latin typeface="Times New Roman" panose="02020603050405020304" pitchFamily="18" charset="0"/>
                <a:cs typeface="Times New Roman" panose="02020603050405020304" pitchFamily="18" charset="0"/>
              </a:rPr>
              <a:t>.</a:t>
            </a:r>
          </a:p>
          <a:p>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Customers using </a:t>
            </a:r>
            <a:r>
              <a:rPr lang="en-US" sz="2400" b="1" dirty="0">
                <a:latin typeface="Times New Roman" panose="02020603050405020304" pitchFamily="18" charset="0"/>
                <a:cs typeface="Times New Roman" panose="02020603050405020304" pitchFamily="18" charset="0"/>
              </a:rPr>
              <a:t>fiber optic services</a:t>
            </a:r>
            <a:r>
              <a:rPr lang="en-US" sz="2400" dirty="0">
                <a:latin typeface="Times New Roman" panose="02020603050405020304" pitchFamily="18" charset="0"/>
                <a:cs typeface="Times New Roman" panose="02020603050405020304" pitchFamily="18" charset="0"/>
              </a:rPr>
              <a:t>, on </a:t>
            </a:r>
            <a:r>
              <a:rPr lang="en-US" sz="2400" b="1" dirty="0">
                <a:latin typeface="Times New Roman" panose="02020603050405020304" pitchFamily="18" charset="0"/>
                <a:cs typeface="Times New Roman" panose="02020603050405020304" pitchFamily="18" charset="0"/>
              </a:rPr>
              <a:t>month-to-month contracts</a:t>
            </a:r>
            <a:r>
              <a:rPr lang="en-US" sz="2400" dirty="0">
                <a:latin typeface="Times New Roman" panose="02020603050405020304" pitchFamily="18" charset="0"/>
                <a:cs typeface="Times New Roman" panose="02020603050405020304" pitchFamily="18" charset="0"/>
              </a:rPr>
              <a:t>, with </a:t>
            </a:r>
            <a:r>
              <a:rPr lang="en-US" sz="2400" b="1" dirty="0">
                <a:latin typeface="Times New Roman" panose="02020603050405020304" pitchFamily="18" charset="0"/>
                <a:cs typeface="Times New Roman" panose="02020603050405020304" pitchFamily="18" charset="0"/>
              </a:rPr>
              <a:t>short tenure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manual payment methods</a:t>
            </a:r>
            <a:r>
              <a:rPr lang="en-US" sz="2400" dirty="0">
                <a:latin typeface="Times New Roman" panose="02020603050405020304" pitchFamily="18" charset="0"/>
                <a:cs typeface="Times New Roman" panose="02020603050405020304" pitchFamily="18" charset="0"/>
              </a:rPr>
              <a:t> are at the highest risk of churn.</a:t>
            </a:r>
          </a:p>
          <a:p>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By improving service quality for high-risk segments, encouraging long-term contracts, and promoting automatic payment options, the company can </a:t>
            </a:r>
            <a:r>
              <a:rPr lang="en-US" sz="2400" b="1" dirty="0">
                <a:latin typeface="Times New Roman" panose="02020603050405020304" pitchFamily="18" charset="0"/>
                <a:cs typeface="Times New Roman" panose="02020603050405020304" pitchFamily="18" charset="0"/>
              </a:rPr>
              <a:t>significantly reduce churn and protect future revenue</a:t>
            </a:r>
            <a:r>
              <a:rPr lang="en-US" sz="2400"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224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96C70CE-7D77-A6E5-D66C-3FFD7A9B38C6}"/>
              </a:ext>
            </a:extLst>
          </p:cNvPr>
          <p:cNvSpPr txBox="1"/>
          <p:nvPr/>
        </p:nvSpPr>
        <p:spPr>
          <a:xfrm>
            <a:off x="609600" y="334297"/>
            <a:ext cx="8731045" cy="646331"/>
          </a:xfrm>
          <a:prstGeom prst="rect">
            <a:avLst/>
          </a:prstGeom>
          <a:noFill/>
        </p:spPr>
        <p:txBody>
          <a:bodyPr wrap="square" rtlCol="0">
            <a:spAutoFit/>
          </a:bodyPr>
          <a:lstStyle/>
          <a:p>
            <a:pPr algn="ctr"/>
            <a:r>
              <a:rPr lang="en-IN" sz="3600" dirty="0">
                <a:solidFill>
                  <a:schemeClr val="accent1">
                    <a:lumMod val="75000"/>
                  </a:schemeClr>
                </a:solidFill>
                <a:latin typeface="Times New Roman" panose="02020603050405020304" pitchFamily="18" charset="0"/>
                <a:cs typeface="Times New Roman" panose="02020603050405020304" pitchFamily="18" charset="0"/>
              </a:rPr>
              <a:t>RECOMMENDATIONS</a:t>
            </a:r>
          </a:p>
        </p:txBody>
      </p:sp>
      <p:sp>
        <p:nvSpPr>
          <p:cNvPr id="13" name="TextBox 12">
            <a:extLst>
              <a:ext uri="{FF2B5EF4-FFF2-40B4-BE49-F238E27FC236}">
                <a16:creationId xmlns:a16="http://schemas.microsoft.com/office/drawing/2014/main" id="{831C37F9-BA94-95DB-62AE-DF5C30D96070}"/>
              </a:ext>
            </a:extLst>
          </p:cNvPr>
          <p:cNvSpPr txBox="1"/>
          <p:nvPr/>
        </p:nvSpPr>
        <p:spPr>
          <a:xfrm>
            <a:off x="1172495" y="1274997"/>
            <a:ext cx="8472949" cy="415498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Improve service quality and technical support for </a:t>
            </a:r>
            <a:r>
              <a:rPr lang="en-US" sz="2400" b="1" dirty="0">
                <a:latin typeface="Times New Roman" panose="02020603050405020304" pitchFamily="18" charset="0"/>
                <a:cs typeface="Times New Roman" panose="02020603050405020304" pitchFamily="18" charset="0"/>
              </a:rPr>
              <a:t>fiber optic customers</a:t>
            </a:r>
            <a:r>
              <a:rPr lang="en-US" sz="2400" dirty="0">
                <a:latin typeface="Times New Roman" panose="02020603050405020304" pitchFamily="18" charset="0"/>
                <a:cs typeface="Times New Roman" panose="02020603050405020304" pitchFamily="18" charset="0"/>
              </a:rPr>
              <a:t>, as they show the highest churn risk.</a:t>
            </a:r>
          </a:p>
          <a:p>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Convert </a:t>
            </a:r>
            <a:r>
              <a:rPr lang="en-US" sz="2400" b="1" dirty="0">
                <a:latin typeface="Times New Roman" panose="02020603050405020304" pitchFamily="18" charset="0"/>
                <a:cs typeface="Times New Roman" panose="02020603050405020304" pitchFamily="18" charset="0"/>
              </a:rPr>
              <a:t>month-to-month customers</a:t>
            </a:r>
            <a:r>
              <a:rPr lang="en-US" sz="2400" dirty="0">
                <a:latin typeface="Times New Roman" panose="02020603050405020304" pitchFamily="18" charset="0"/>
                <a:cs typeface="Times New Roman" panose="02020603050405020304" pitchFamily="18" charset="0"/>
              </a:rPr>
              <a:t> into long-term contracts by offering discounts, loyalty benefits, or better plans.</a:t>
            </a:r>
          </a:p>
          <a:p>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Focus on </a:t>
            </a:r>
            <a:r>
              <a:rPr lang="en-US" sz="2400" b="1" dirty="0">
                <a:latin typeface="Times New Roman" panose="02020603050405020304" pitchFamily="18" charset="0"/>
                <a:cs typeface="Times New Roman" panose="02020603050405020304" pitchFamily="18" charset="0"/>
              </a:rPr>
              <a:t>new and short-tenure customers</a:t>
            </a:r>
            <a:r>
              <a:rPr lang="en-US" sz="2400" dirty="0">
                <a:latin typeface="Times New Roman" panose="02020603050405020304" pitchFamily="18" charset="0"/>
                <a:cs typeface="Times New Roman" panose="02020603050405020304" pitchFamily="18" charset="0"/>
              </a:rPr>
              <a:t> by providing proactive support during the first year to increase retention.</a:t>
            </a:r>
          </a:p>
          <a:p>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Encourage customers using </a:t>
            </a:r>
            <a:r>
              <a:rPr lang="en-US" sz="2400" b="1" dirty="0">
                <a:latin typeface="Times New Roman" panose="02020603050405020304" pitchFamily="18" charset="0"/>
                <a:cs typeface="Times New Roman" panose="02020603050405020304" pitchFamily="18" charset="0"/>
              </a:rPr>
              <a:t>manual payment methods</a:t>
            </a:r>
            <a:r>
              <a:rPr lang="en-US" sz="2400" dirty="0">
                <a:latin typeface="Times New Roman" panose="02020603050405020304" pitchFamily="18" charset="0"/>
                <a:cs typeface="Times New Roman" panose="02020603050405020304" pitchFamily="18" charset="0"/>
              </a:rPr>
              <a:t> to switch to </a:t>
            </a:r>
            <a:r>
              <a:rPr lang="en-US" sz="2400" b="1" dirty="0">
                <a:latin typeface="Times New Roman" panose="02020603050405020304" pitchFamily="18" charset="0"/>
                <a:cs typeface="Times New Roman" panose="02020603050405020304" pitchFamily="18" charset="0"/>
              </a:rPr>
              <a:t>automatic payments</a:t>
            </a:r>
            <a:r>
              <a:rPr lang="en-US" sz="2400" dirty="0">
                <a:latin typeface="Times New Roman" panose="02020603050405020304" pitchFamily="18" charset="0"/>
                <a:cs typeface="Times New Roman" panose="02020603050405020304" pitchFamily="18" charset="0"/>
              </a:rPr>
              <a:t> through incentives and awareness.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165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a:extLst>
              <a:ext uri="{FF2B5EF4-FFF2-40B4-BE49-F238E27FC236}">
                <a16:creationId xmlns:a16="http://schemas.microsoft.com/office/drawing/2014/main" id="{91A32C7D-4DAA-B2A2-423C-BC2ACCBB34C8}"/>
              </a:ext>
            </a:extLst>
          </p:cNvPr>
          <p:cNvPicPr/>
          <p:nvPr/>
        </p:nvPicPr>
        <p:blipFill>
          <a:blip r:embed="rId2" cstate="print"/>
          <a:stretch>
            <a:fillRect/>
          </a:stretch>
        </p:blipFill>
        <p:spPr>
          <a:xfrm>
            <a:off x="616976" y="589935"/>
            <a:ext cx="8792496" cy="5122607"/>
          </a:xfrm>
          <a:prstGeom prst="rect">
            <a:avLst/>
          </a:prstGeom>
        </p:spPr>
      </p:pic>
    </p:spTree>
    <p:extLst>
      <p:ext uri="{BB962C8B-B14F-4D97-AF65-F5344CB8AC3E}">
        <p14:creationId xmlns:p14="http://schemas.microsoft.com/office/powerpoint/2010/main" val="232351611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71</TotalTime>
  <Words>1086</Words>
  <Application>Microsoft Office PowerPoint</Application>
  <PresentationFormat>Widescreen</PresentationFormat>
  <Paragraphs>89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pranit0704@outlook.com</dc:creator>
  <cp:lastModifiedBy>pranit0704@outlook.com</cp:lastModifiedBy>
  <cp:revision>1</cp:revision>
  <dcterms:created xsi:type="dcterms:W3CDTF">2026-01-31T14:46:30Z</dcterms:created>
  <dcterms:modified xsi:type="dcterms:W3CDTF">2026-01-31T15:58:09Z</dcterms:modified>
</cp:coreProperties>
</file>